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Opening the Black Box of Graph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11535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CFD8E3"/>
                </a:solidFill>
                <a:latin typeface="Calibri"/>
              </a:rPr>
              <a:t>Comparing 1-GNN and 1-2-GNN through generated explanations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11535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2E4F"/>
                </a:solidFill>
                <a:latin typeface="Calibri"/>
              </a:rPr>
              <a:t>Master's thesis defense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C66"/>
                </a:solidFill>
                <a:latin typeface="Calibri"/>
              </a:rPr>
              <a:t>MUTAG  ·  PROTEINS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this thesis?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E4F"/>
                </a:solidFill>
                <a:latin typeface="Calibri"/>
              </a:rPr>
              <a:t>Neural networks make great decisions — but they don't tell us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Calibri"/>
              </a:rPr>
              <a:t>Two networks can reach the same accuracy on the same dataset…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Calibri"/>
              </a:rPr>
              <a:t>…and yet have completely different ideas of what each class actually looks like.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555C66"/>
                </a:solidFill>
                <a:latin typeface="Calibri"/>
              </a:rPr>
              <a:t>If we only look at accuracy, we miss this. We never see what the model has actually learned.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C0392B"/>
                </a:solidFill>
                <a:latin typeface="Calibri"/>
              </a:rPr>
              <a:t>Goal: open the box. Force each model to show us its own picture of each class, then compare.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Graphs and Graph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E4F"/>
                </a:solidFill>
                <a:latin typeface="Calibri"/>
              </a:rPr>
              <a:t>A graph = nodes connected by edges. Many real things are graphs.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A1A1A"/>
                </a:solidFill>
                <a:latin typeface="Calibri"/>
              </a:rPr>
              <a:t>Examples in this thesis: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Molecules — atoms (nodes), bonds (edges)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Proteins — secondary-structure pieces, connected by sequence and 3-D distance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Task: classify the whole graph.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  – Is this molecule mutagenic?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  – Is this protein an enzyme?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2120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A1A1A"/>
                </a:solidFill>
                <a:latin typeface="Calibri"/>
              </a:rPr>
              <a:t>How a GNN works (intuition):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Every node holds a small vector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Each round, a node looks at its neighbours and updates its own vector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After a few rounds, all node vectors are pooled into a single graph vector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That graph vector is fed to a classifier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1-GNN vs. 1-2-GNN</a:t>
            </a:r>
          </a:p>
          <a:p>
            <a:pPr algn="l"/>
            <a:r>
              <a:rPr sz="1400">
                <a:solidFill>
                  <a:srgbClr val="CFD8E3"/>
                </a:solidFill>
                <a:latin typeface="Calibri"/>
              </a:rPr>
              <a:t>What does each architecture pay attention 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2120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E4F"/>
                </a:solidFill>
                <a:latin typeface="Calibri"/>
              </a:rPr>
              <a:t>1-GNN  —  the standard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2120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Each node only looks at its direct neighbours.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Cheap and fast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Powerful enough for most tasks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Limited: there are graph structures it provably cannot tell apart (e.g. two triangles vs. one hexagon — every node looks the same locally)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5212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55C66"/>
                </a:solidFill>
                <a:latin typeface="Calibri"/>
              </a:rPr>
              <a:t>Message passing on nodes: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40680"/>
            <a:ext cx="521208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i="1">
                <a:solidFill>
                  <a:srgbClr val="0F2E4F"/>
                </a:solidFill>
                <a:latin typeface="Cambria Math"/>
              </a:rPr>
              <a:t>h(v) ← σ( h(v) · W₁  +  Σᵤ∈N(v)  h(u) · W₂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2120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0392B"/>
                </a:solidFill>
                <a:latin typeface="Calibri"/>
              </a:rPr>
              <a:t>1-2-GNN  —  also looks at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2120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Does the 1-GNN step, then adds a second step over PAIRS of nodes.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A pair carries info about both nodes AND whether they are connected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Provably more expressive — can tell apart triangles vs. hexagons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Cost: pairs grow as N², so it is much slower and memory-hungry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55C66"/>
                </a:solidFill>
                <a:latin typeface="Calibri"/>
              </a:rPr>
              <a:t>Message passing on pairs: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440680"/>
            <a:ext cx="521208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i="1">
                <a:solidFill>
                  <a:srgbClr val="C0392B"/>
                </a:solidFill>
                <a:latin typeface="Cambria Math"/>
              </a:rPr>
              <a:t>h(u,v) ← σ( h(u,v) · W₃  +  Σ pair-neighbours  h(·,·) · W₄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question this thesis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A1A1A"/>
                </a:solidFill>
                <a:latin typeface="Calibri"/>
              </a:rPr>
              <a:t>The 1-2-GNN can see more structure than the 1-GNN.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A1A1A"/>
                </a:solidFill>
                <a:latin typeface="Calibri"/>
              </a:rPr>
              <a:t>On our datasets, both reach (almost) the same test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C0392B"/>
                </a:solidFill>
                <a:latin typeface="Calibri"/>
              </a:rPr>
              <a:t>So: are they actually learning the same thing?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555C66"/>
                </a:solidFill>
                <a:latin typeface="Calibri"/>
              </a:rPr>
              <a:t>Same answer on a multiple-choice exam doesn't mean the two students reasoned the same way.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555C66"/>
                </a:solidFill>
                <a:latin typeface="Calibri"/>
              </a:rPr>
              <a:t>Same accuracy on the test set doesn't mean the two models built the same idea of each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GIN-Graph: ask the model to draw its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E4F"/>
                </a:solidFill>
                <a:latin typeface="Calibri"/>
              </a:rPr>
              <a:t>The trick: reverse-engineer the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3887" y="1783080"/>
            <a:ext cx="2468880" cy="96012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0F2E4F"/>
                </a:solidFill>
                <a:latin typeface="Calibri"/>
              </a:rPr>
              <a:t>Random noise</a:t>
            </a:r>
          </a:p>
          <a:p>
            <a:pPr algn="ctr"/>
            <a:r>
              <a:rPr i="1" sz="1400">
                <a:solidFill>
                  <a:srgbClr val="555C66"/>
                </a:solidFill>
                <a:latin typeface="Cambria Math"/>
              </a:rPr>
              <a:t>z ~ 𝒩(0, I)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58487" y="2103120"/>
            <a:ext cx="457200" cy="320040"/>
          </a:xfrm>
          <a:prstGeom prst="rightArrow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61407" y="1783080"/>
            <a:ext cx="2468880" cy="96012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C0392B"/>
                </a:solidFill>
                <a:latin typeface="Calibri"/>
              </a:rPr>
              <a:t>Generator MLP</a:t>
            </a:r>
          </a:p>
          <a:p>
            <a:pPr algn="ctr"/>
            <a:r>
              <a:rPr i="1" sz="1400">
                <a:solidFill>
                  <a:srgbClr val="555C66"/>
                </a:solidFill>
                <a:latin typeface="Cambria Math"/>
              </a:rPr>
              <a:t>trainable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76007" y="2103120"/>
            <a:ext cx="457200" cy="320040"/>
          </a:xfrm>
          <a:prstGeom prst="rightArrow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78927" y="1783080"/>
            <a:ext cx="2468880" cy="96012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0F2E4F"/>
                </a:solidFill>
                <a:latin typeface="Calibri"/>
              </a:rPr>
              <a:t>Graph</a:t>
            </a:r>
          </a:p>
          <a:p>
            <a:pPr algn="ctr"/>
            <a:r>
              <a:rPr i="1" sz="1400">
                <a:solidFill>
                  <a:srgbClr val="555C66"/>
                </a:solidFill>
                <a:latin typeface="Cambria Math"/>
              </a:rPr>
              <a:t>G̃ = (Ã, X̃)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926080"/>
            <a:ext cx="8138160" cy="6400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i="1">
                <a:solidFill>
                  <a:srgbClr val="0F2E4F"/>
                </a:solidFill>
                <a:latin typeface="Cambria Math"/>
              </a:rPr>
              <a:t>G̃ = Generator(z) ,    z ~ 𝒩(0, 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The generator is rewarded when its graph G̃: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    1.  is confidently classified as the target class by the frozen classifier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    2.  looks realistic (a small adversary discriminator polices this)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555C66"/>
                </a:solidFill>
                <a:latin typeface="Calibri"/>
              </a:rPr>
              <a:t>Total generator loss: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532120"/>
            <a:ext cx="8138160" cy="6858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i="1">
                <a:solidFill>
                  <a:srgbClr val="C0392B"/>
                </a:solidFill>
                <a:latin typeface="Cambria Math"/>
              </a:rPr>
              <a:t>ℒ = (1−λ) · ℒ_GAN  +  λ · ℒ_GNN  +  ℒ_reg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C66"/>
                </a:solidFill>
                <a:latin typeface="Calibri"/>
              </a:rPr>
              <a:t>realism             class-specificity        size &amp; node-type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377440" cy="114300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1. Train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371600"/>
            <a:ext cx="86868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Train a 1-GNN and a 1-2-GNN on the dataset.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Each one becomes a frozen “target”.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2377440" cy="114300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2. Train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651760"/>
            <a:ext cx="86868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For every (model × class) pair, train a GIN-Graph generator.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4 datasets × 2 classes × 2 models = 8 generators.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2377440" cy="114300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3. Sample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931920"/>
            <a:ext cx="86868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Generate 1000 graphs from each generator.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This is the model's prototype population.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2377440" cy="114300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4.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212080"/>
            <a:ext cx="86868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Compare against real data, and let each model classify the OTHER model's prototypes.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Two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486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E4F"/>
                </a:solidFill>
                <a:latin typeface="Calibri"/>
              </a:rPr>
              <a:t>MUTAG  —  small molecules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188 molecules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7 atom types (C, N, O, F, I, Cl, Br)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Classes: Mutagen / Non-Mutagen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Up to 28 atoms per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486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E4F"/>
                </a:solidFill>
                <a:latin typeface="Calibri"/>
              </a:rPr>
              <a:t>PROTEINS  —  protein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1113 proteins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3 secondary-structure types (Helix, Sheet, Coil/Turn)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Classes: Enzyme / Non-Enzyme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Up to 620 nodes; we cap generation at 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C0392B"/>
                </a:solidFill>
                <a:latin typeface="Calibri"/>
              </a:rPr>
              <a:t>Test accuracy: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    MUTAG       1-GNN  89.5 %     1-2-GNN  89.5 %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    PROTEINS  1-GNN  79.8 %     1-2-GNN  78.9 %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MUTAG  —  real vs. generated</a:t>
            </a:r>
          </a:p>
          <a:p>
            <a:pPr algn="l"/>
            <a:r>
              <a:rPr sz="1400">
                <a:solidFill>
                  <a:srgbClr val="CFD8E3"/>
                </a:solidFill>
                <a:latin typeface="Calibri"/>
              </a:rPr>
              <a:t>What does each model think a molecule looks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E4F"/>
                </a:solidFill>
                <a:latin typeface="Calibri"/>
              </a:rPr>
              <a:t>Real molecules (from the dataset)</a:t>
            </a:r>
          </a:p>
        </p:txBody>
      </p:sp>
      <p:pic>
        <p:nvPicPr>
          <p:cNvPr id="6" name="Picture 5" descr="real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617" y="1234440"/>
            <a:ext cx="4240285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852928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E4F"/>
                </a:solidFill>
                <a:latin typeface="Calibri"/>
              </a:rPr>
              <a:t>Generated by the 1-GNN</a:t>
            </a:r>
          </a:p>
        </p:txBody>
      </p:sp>
      <p:pic>
        <p:nvPicPr>
          <p:cNvPr id="8" name="Picture 7" descr="random_samples_1g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617" y="3127248"/>
            <a:ext cx="4240285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736592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E4F"/>
                </a:solidFill>
                <a:latin typeface="Calibri"/>
              </a:rPr>
              <a:t>Generated by the 1-2-GNN</a:t>
            </a:r>
          </a:p>
        </p:txBody>
      </p:sp>
      <p:pic>
        <p:nvPicPr>
          <p:cNvPr id="10" name="Picture 9" descr="random_samples_12g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617" y="5010912"/>
            <a:ext cx="4240285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PROTEINS  —  real vs. generated</a:t>
            </a:r>
          </a:p>
          <a:p>
            <a:pPr algn="l"/>
            <a:r>
              <a:rPr sz="1400">
                <a:solidFill>
                  <a:srgbClr val="CFD8E3"/>
                </a:solidFill>
                <a:latin typeface="Calibri"/>
              </a:rPr>
              <a:t>Same comparison, very different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E4F"/>
                </a:solidFill>
                <a:latin typeface="Calibri"/>
              </a:rPr>
              <a:t>Real proteins (from the dataset)</a:t>
            </a:r>
          </a:p>
        </p:txBody>
      </p:sp>
      <p:pic>
        <p:nvPicPr>
          <p:cNvPr id="6" name="Picture 5" descr="real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617" y="1234440"/>
            <a:ext cx="4240285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852928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E4F"/>
                </a:solidFill>
                <a:latin typeface="Calibri"/>
              </a:rPr>
              <a:t>Generated by the 1-GNN</a:t>
            </a:r>
          </a:p>
        </p:txBody>
      </p:sp>
      <p:pic>
        <p:nvPicPr>
          <p:cNvPr id="8" name="Picture 7" descr="random_samples_1g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617" y="3127248"/>
            <a:ext cx="4240285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736592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E4F"/>
                </a:solidFill>
                <a:latin typeface="Calibri"/>
              </a:rPr>
              <a:t>Generated by the 1-2-GNN</a:t>
            </a:r>
          </a:p>
        </p:txBody>
      </p:sp>
      <p:pic>
        <p:nvPicPr>
          <p:cNvPr id="10" name="Picture 9" descr="random_samples_12g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617" y="5010912"/>
            <a:ext cx="4240285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Headline result: cross-classification</a:t>
            </a:r>
          </a:p>
          <a:p>
            <a:pPr algn="l"/>
            <a:r>
              <a:rPr sz="1400">
                <a:solidFill>
                  <a:srgbClr val="CFD8E3"/>
                </a:solidFill>
                <a:latin typeface="Calibri"/>
              </a:rPr>
              <a:t>Does each model accept the OTHER model's prototypes?</a:t>
            </a:r>
          </a:p>
        </p:txBody>
      </p:sp>
      <p:pic>
        <p:nvPicPr>
          <p:cNvPr id="5" name="Picture 4" descr="cross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93654"/>
            <a:ext cx="5943600" cy="2081971"/>
          </a:xfrm>
          <a:prstGeom prst="rect">
            <a:avLst/>
          </a:prstGeom>
        </p:spPr>
      </p:pic>
      <p:pic>
        <p:nvPicPr>
          <p:cNvPr id="6" name="Picture 5" descr="cross_class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94154"/>
            <a:ext cx="5943600" cy="20809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61772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E4F"/>
                </a:solidFill>
                <a:latin typeface="Calibri"/>
              </a:rPr>
              <a:t>MUTAG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61772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E4F"/>
                </a:solidFill>
                <a:latin typeface="Calibri"/>
              </a:rPr>
              <a:t>PROTEINS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2471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Each model accepts almost all of its OWN generated graphs.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C0392B"/>
                </a:solidFill>
                <a:latin typeface="Calibri"/>
              </a:rPr>
              <a:t>But in one specific class per dataset, the other model rejects them almost entirely: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       MUTAG, Mutagen class:    1-GNN accepts only 12 % of the 1-2-GNN's prototypes.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       PROTEINS, Enzyme class:  1-2-GNN accepts only 14 % of the 1-GNN's prototypes.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drives the disagreement?</a:t>
            </a:r>
          </a:p>
          <a:p>
            <a:pPr algn="l"/>
            <a:r>
              <a:rPr sz="1400">
                <a:solidFill>
                  <a:srgbClr val="CFD8E3"/>
                </a:solidFill>
                <a:latin typeface="Calibri"/>
              </a:rPr>
              <a:t>MUTAG: triangles  ·  PROTEINS: too many sheets</a:t>
            </a:r>
          </a:p>
        </p:txBody>
      </p:sp>
      <p:pic>
        <p:nvPicPr>
          <p:cNvPr id="5" name="Picture 4" descr="fingerprint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24685"/>
            <a:ext cx="6035040" cy="2871270"/>
          </a:xfrm>
          <a:prstGeom prst="rect">
            <a:avLst/>
          </a:prstGeom>
        </p:spPr>
      </p:pic>
      <p:pic>
        <p:nvPicPr>
          <p:cNvPr id="6" name="Picture 5" descr="fingerprint_node_type_shif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199" y="1005840"/>
            <a:ext cx="3659601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206240"/>
            <a:ext cx="60350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E4F"/>
                </a:solidFill>
                <a:latin typeface="Calibri"/>
              </a:rPr>
              <a:t>MUTAG  —  the theory-aligned signal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The 1-2-GNN produces clearly fewer triangles than the 1-GNN.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C66"/>
                </a:solidFill>
                <a:latin typeface="Calibri"/>
              </a:rPr>
              <a:t>This is exactly the kind of structure that pair-level message passing can detect — and 1-WL cannot.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06240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E4F"/>
                </a:solidFill>
                <a:latin typeface="Calibri"/>
              </a:rPr>
              <a:t>PROTEINS  —  Sheet-heavy prototype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The 1-2-GNN's Non-Enzyme prototype is ~89 % Sheet (real data: ~56 %).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C66"/>
                </a:solidFill>
                <a:latin typeface="Calibri"/>
              </a:rPr>
              <a:t>It exaggerates the structural pattern it has learned to associate with the class.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0392B"/>
                </a:solidFill>
                <a:latin typeface="Calibri"/>
              </a:rPr>
              <a:t>Same accuracy does not mean the same understanding.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On both MUTAG and PROTEINS the two architectures hit (almost) the same test accuracy.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Yet the prototypes they produce are systematically different — in atoms, edges, and cycles.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In one specific class per dataset, each model strongly rejects the other's prototypes.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The MUTAG triangle result is the cleanest theory-aligned signal: pair-level message passing changes which structures the model treats as evidence.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F2E4F"/>
                </a:solidFill>
                <a:latin typeface="Calibri"/>
              </a:rPr>
              <a:t>Take-away:  higher-order message passing changes the prototype — not whether the model is more correct.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555C66"/>
                </a:solidFill>
                <a:latin typeface="Calibri"/>
              </a:rPr>
              <a:t>Accuracy hides this. Generated explanations make it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F2E4F"/>
                </a:solidFill>
                <a:latin typeface="Calibri"/>
              </a:rPr>
              <a:t>Thank you  —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